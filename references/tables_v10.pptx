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7373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1: Evolution of EEG Decoding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00400"/>
                <a:gridCol w="50292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Representative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Key Value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Deep learning for EEG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EEGNet (2018)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Compact, domain-aware deep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Efficient spatio-temporal feature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Global temporal modeling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EEG Conformer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CNN frontend + Transformer self-attention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Long-range dependency + attention visualization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Large-scale pretraining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CBraMod (2025)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Criss-cross attention + masked EEG pretraining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Universal representations via LP /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2: CBraMod Reproduction Results Across 8 Downstream Tasks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03120"/>
                <a:gridCol w="1371600"/>
                <a:gridCol w="1005840"/>
                <a:gridCol w="1005840"/>
                <a:gridCol w="1005840"/>
                <a:gridCol w="100584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Mean
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Best
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Mean k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Best k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Paper Ref.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BCIC2A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session T/E+CAR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k 0.5138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Matched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0.4617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0.5509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ISRUC-S1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0.7373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0.7865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Reproduced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Physionet-MI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0.6417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SEED-V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0.3927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0.4018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0.2450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0.2592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0.4091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SHU-MI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0.1700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0.2756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0.6370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Best matches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MDD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0.9034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0.9674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0.8008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0.9099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bAcc 0.9560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5A32"/>
                          </a:solidFill>
                        </a:rPr>
                        <a:t>Best exceeds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TUEV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0.5755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0.5964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0.6343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k 0.6671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74C3C"/>
                          </a:solidFill>
                        </a:rPr>
                        <a:t>Below Ref.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155448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0"/>
                <a:gridCol w="2286000"/>
                <a:gridCol w="2286000"/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Matched / Reproduced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Below Ref.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74C3C"/>
                          </a:solidFill>
                        </a:rPr>
                        <a:t>8 datasets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45A32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482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74C3C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45A32"/>
                          </a:solidFill>
                        </a:rPr>
                        <a:t>6/8 on or near ref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3: Original EEGNet Performance on Motor Imagery 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2103120"/>
                <a:gridCol w="2103120"/>
                <a:gridCol w="2103120"/>
                <a:gridCol w="53035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Classes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Val Acc (%)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Test Acc (%)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Test Kappa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BCICIV2A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79.17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Primary (300 epochs), val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BCICIV2B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77.72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78.35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0.5669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Primary (300 epochs), full test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IIIa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55.95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Quick baseline (100 epochs, single seed)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Physionet MI (22ch)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49.30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Quick baseline (100 epochs, single seed)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4: NeuroGate - Linear Probing with Frozen Backbone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114800"/>
                <a:gridCol w="182880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CBraMod LP 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NeuroGate LP 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Gain Level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HMC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0.6149 +- 0.0256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0.6922 +- 0.0172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Large gain (sleep staging)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ISRUC-S1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0.5962 +- 0.0579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0.6934 +- 0.0156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Large gain (sleep staging)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MDD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0.8907 +- 0.0477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0.9062 +- 0.1101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Small gain (clinical)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Physionet-MI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0.2719 +- 0.0176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0.2875 +- 0.0083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Small gain (motor imagery)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47472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C3C3C"/>
                </a:solidFill>
              </a:rPr>
              <a:t>Neural priors most helpful where frozen embeddings lack spectral structure (sleep staging &gt;&gt; motor imagery).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5: NeuroGate - Fine-Tuning Summary on Selected-12 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554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Evidence Strength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LP channel-gated fusion mean gain (vs. backbone-only)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+0.0389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Strong (LP, frozen backbone)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LP gated fusion positive rate (dataset-backbone units)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40 / 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5A32"/>
                          </a:solidFill>
                        </a:rPr>
                        <a:t>Strong (LP, 83% positive)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CBraMod flatten-FT gated fusion mean 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+0.0078 BA (9/12 positive)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Supporting (FT, end-to-end)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FT best-of-gated/logit mean 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>+0.0097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8200"/>
                          </a:solidFill>
                        </a:rPr>
                        <a:t>Supporting (FT, end-to-end)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47472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C3C3C"/>
                </a:solidFill>
              </a:rPr>
              <a:t>Primary evidence: LP (frozen backbone). FT gains are smaller but consistently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6: EEG Conformer Reproduction on BCICIV2a (Per-Subject Accuracy %)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822960"/>
          <a:ext cx="125272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105156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S01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S02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S03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S04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S05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S06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S07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S08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S09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Average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EEG Conformer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61.46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93.40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52.08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65.28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92.36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88.89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w/o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42.01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83.33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74C3C"/>
                          </a:solidFill>
                        </a:rPr>
                        <a:t>28.47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47.91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76.04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83.68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63.73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74C3C"/>
                          </a:solidFill>
                        </a:rPr>
                        <a:t>-14.93 pp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432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C3C3C"/>
                </a:solidFill>
              </a:rPr>
              <a:t>Self-attention is critical: removing Transformer drops accuracy by ~15 pp on average. Largest gap at S04 (78.13 -&gt; 28.47).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645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Table 7: Cross-Model Reproduction Traffic-Light Grid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777240"/>
          <a:ext cx="14996160" cy="553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3840480"/>
                <a:gridCol w="3840480"/>
                <a:gridCol w="38404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EEGNet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EEG Conformer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CBraMod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BCICIV2A / 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Motor Imagery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7AE60"/>
                          </a:solidFill>
                        </a:rPr>
                        <a:t>79.17% val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7AE60"/>
                          </a:solidFill>
                        </a:rPr>
                        <a:t>78.66% avg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7AE60"/>
                          </a:solidFill>
                        </a:rPr>
                        <a:t>bAcc 0.671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BCICIV2B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Motor Imagery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7AE60"/>
                          </a:solidFill>
                        </a:rPr>
                        <a:t>78.35%, k=0.57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IIIa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Motor Imagery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1C40F"/>
                          </a:solidFill>
                        </a:rPr>
                        <a:t>55.95% val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Physionet-MI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Motor Imagery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1C40F"/>
                          </a:solidFill>
                        </a:rPr>
                        <a:t>49.30% val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1C40F"/>
                          </a:solidFill>
                        </a:rPr>
                        <a:t>bAcc 0.618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FACED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Emotion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1C40F"/>
                          </a:solidFill>
                        </a:rPr>
                        <a:t>bAcc 0.534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ISRUC-S1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Sleep Staging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7AE60"/>
                          </a:solidFill>
                        </a:rPr>
                        <a:t>bAcc 0.785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SEED-V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Emotion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1C40F"/>
                          </a:solidFill>
                        </a:rPr>
                        <a:t>bAcc 0.402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SHU-MI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Motor Imagery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7AE60"/>
                          </a:solidFill>
                        </a:rPr>
                        <a:t>bAcc 0.638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MDD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Clinical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7AE60"/>
                          </a:solidFill>
                        </a:rPr>
                        <a:t>bAcc 0.967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</a:rPr>
                        <a:t>TUEV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Pathology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8C8C8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4C3C"/>
                          </a:solidFill>
                        </a:rPr>
                        <a:t>k 0.634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583680"/>
            <a:ext cx="1554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/>
              <a:t>Legend:  </a:t>
            </a:r>
            <a:r>
              <a:rPr sz="1100">
                <a:solidFill>
                  <a:srgbClr val="27AE60"/>
                </a:solidFill>
              </a:rPr>
              <a:t>Green = On/above paper reference (reproduced)</a:t>
            </a:r>
            <a:r>
              <a:rPr sz="1100">
                <a:solidFill>
                  <a:srgbClr val="B48200"/>
                </a:solidFill>
              </a:rPr>
              <a:t>  |  Yellow = Close to paper reference</a:t>
            </a:r>
            <a:r>
              <a:rPr sz="1100">
                <a:solidFill>
                  <a:srgbClr val="E74C3C"/>
                </a:solidFill>
              </a:rPr>
              <a:t>  |  Red = Below paper reference</a:t>
            </a:r>
            <a:r>
              <a:rPr sz="1100">
                <a:solidFill>
                  <a:srgbClr val="C8C8C8"/>
                </a:solidFill>
              </a:rPr>
              <a:t>  |  Gray = No 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040880"/>
          <a:ext cx="13350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840480"/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EEGNet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EEG Conformer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CBraMod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7AE60"/>
                          </a:solidFill>
                        </a:rPr>
                        <a:t>Green (reproduced)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7AE6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7AE6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7AE6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DCFF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B48200"/>
                          </a:solidFill>
                        </a:rPr>
                        <a:t>Yellow (close)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B482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82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A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E74C3C"/>
                          </a:solidFill>
                        </a:rPr>
                        <a:t>Red (below)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74C3C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74C3C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74C3C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8C8C8"/>
                          </a:solidFill>
                        </a:rPr>
                        <a:t>No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8C8C8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8C8C8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8C8C8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