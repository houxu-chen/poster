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0000"/>
                </a:solidFill>
              </a:defRPr>
            </a:pPr>
            <a:r>
              <a:t>Table 1: Evolution of EEG Decoding Models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05840"/>
          <a:ext cx="137160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2743200"/>
                <a:gridCol w="4114800"/>
                <a:gridCol w="36576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0000"/>
                          </a:solidFill>
                        </a:defRPr>
                      </a:pPr>
                      <a:r>
                        <a:t>Stage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0000"/>
                          </a:solidFill>
                        </a:defRPr>
                      </a:pPr>
                      <a:r>
                        <a:t>Representative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0000"/>
                          </a:solidFill>
                        </a:defRPr>
                      </a:pPr>
                      <a:r>
                        <a:t>Rationale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0000"/>
                          </a:solidFill>
                        </a:defRPr>
                      </a:pPr>
                      <a:r>
                        <a:t>Key Value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Deep learning for EEG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EEGNet (2018)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Compact, domain-aware deep model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Efficient EEG feature learning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Global temporal modeling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EEG Conformer (2023)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CNN frontend + Transformer attention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Long-range dependency + attention visualization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Large-scale pretraining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CBraMod (2025)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EEG foundation model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Pretrain → LP/FT multi-task adaptation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0000"/>
                </a:solidFill>
              </a:defRPr>
            </a:pPr>
            <a:r>
              <a:t>Table 2: CBraMod Reproduction Results Across 8 Downstream Tasks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05840"/>
          <a:ext cx="112471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828800"/>
                <a:gridCol w="1371600"/>
                <a:gridCol w="1097280"/>
                <a:gridCol w="1097280"/>
                <a:gridCol w="1097280"/>
                <a:gridCol w="1097280"/>
                <a:gridCol w="1371600"/>
                <a:gridCol w="118872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0000"/>
                          </a:solidFill>
                        </a:defRPr>
                      </a:pPr>
                      <a:r>
                        <a:t>Dataset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0000"/>
                          </a:solidFill>
                        </a:defRPr>
                      </a:pPr>
                      <a:r>
                        <a:t>Config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0000"/>
                          </a:solidFill>
                        </a:defRPr>
                      </a:pPr>
                      <a:r>
                        <a:t>Seeds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0000"/>
                          </a:solidFill>
                        </a:defRPr>
                      </a:pPr>
                      <a:r>
                        <a:t>Mean bAcc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0000"/>
                          </a:solidFill>
                        </a:defRPr>
                      </a:pPr>
                      <a:r>
                        <a:t>Best bAcc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0000"/>
                          </a:solidFill>
                        </a:defRPr>
                      </a:pPr>
                      <a:r>
                        <a:t>Mean κ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0000"/>
                          </a:solidFill>
                        </a:defRPr>
                      </a:pPr>
                      <a:r>
                        <a:t>Best κ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0000"/>
                          </a:solidFill>
                        </a:defRPr>
                      </a:pPr>
                      <a:r>
                        <a:t>Paper Ref.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0000"/>
                          </a:solidFill>
                        </a:defRPr>
                      </a:pPr>
                      <a:r>
                        <a:t>Conclusion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BCIC2A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session T/E+CAR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42/2024/3407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0.6382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0.6709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0.5177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0.5612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κ 0.5138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Matched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FACED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baseline official FT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42/2024/3407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0.5245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0.5340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0.4617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0.4718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bAcc 0.5509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Close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ISRUC-S1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baseline official FT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42/2024/3407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0.7780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0.7850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0.7128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0.7373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bAcc 0.7865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Reproduced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Physionet-MI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flatten FT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42/2024/3047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0.5975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0.6181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0.4631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0.4903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bAcc 0.6417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Close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SEED-V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baseline official FT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42/2024/3407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0.3927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0.4018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0.2450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0.2592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bAcc 0.4091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Close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SHU-MI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flatten FT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42/2024/3047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0.5851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0.6380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0.1700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0.2756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bAcc 0.6370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Best matches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MDD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flatten FT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42/2024/3047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0.9034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0.9674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0.8008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0.9099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bAcc 0.9560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Best exceeds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TUEV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baseline official FT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42/2024/3407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0.5499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0.5755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0.5964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0.6343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κ 0.6671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Below ref.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0000"/>
                </a:solidFill>
              </a:defRPr>
            </a:pPr>
            <a:r>
              <a:t>Table 3: Original EEGNet Performance on Motor Imagery Datasets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05840"/>
          <a:ext cx="114300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371600"/>
                <a:gridCol w="2286000"/>
                <a:gridCol w="2286000"/>
                <a:gridCol w="22860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0000"/>
                          </a:solidFill>
                        </a:defRPr>
                      </a:pPr>
                      <a:r>
                        <a:t>Dataset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0000"/>
                          </a:solidFill>
                        </a:defRPr>
                      </a:pPr>
                      <a:r>
                        <a:t>Classes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0000"/>
                          </a:solidFill>
                        </a:defRPr>
                      </a:pPr>
                      <a:r>
                        <a:t>Val Acc (%)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0000"/>
                          </a:solidFill>
                        </a:defRPr>
                      </a:pPr>
                      <a:r>
                        <a:t>Test Acc (%)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0000"/>
                          </a:solidFill>
                        </a:defRPr>
                      </a:pPr>
                      <a:r>
                        <a:t>Test κ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BCICIV2A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79.17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BCICIV2B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77.72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78.35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0.5669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IIIa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55.95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Physionet MI (22ch)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49.30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0000"/>
                </a:solidFill>
              </a:defRPr>
            </a:pPr>
            <a:r>
              <a:t>Table 4: NeuroGate — Linear Probing with Frozen Backbone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05840"/>
          <a:ext cx="11887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3657600"/>
                <a:gridCol w="3657600"/>
                <a:gridCol w="18288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0000"/>
                          </a:solidFill>
                        </a:defRPr>
                      </a:pPr>
                      <a:r>
                        <a:t>Dataset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0000"/>
                          </a:solidFill>
                        </a:defRPr>
                      </a:pPr>
                      <a:r>
                        <a:t>CBraMod LP bAcc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0000"/>
                          </a:solidFill>
                        </a:defRPr>
                      </a:pPr>
                      <a:r>
                        <a:t>NeuroGate LP bAcc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0000"/>
                          </a:solidFill>
                        </a:defRPr>
                      </a:pPr>
                      <a:r>
                        <a:t>Δ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HMC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0.6149 ± 0.0256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0.6922 ± 0.0172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+0.0773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ISRUC-S1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0.5962 ± 0.0579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0.6934 ± 0.0156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+0.0972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MDD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0.8907 ± 0.0477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0.9062 ± 0.1101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+0.0154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Physionet-MI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0.2719 ± 0.0176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0.2875 ± 0.0083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+0.0156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0000"/>
                </a:solidFill>
              </a:defRPr>
            </a:pPr>
            <a:r>
              <a:t>Table 5: NeuroGate — Fine-Tuning Summary on Selected-12 Datasets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05840"/>
          <a:ext cx="114300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8000"/>
                <a:gridCol w="45720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0000"/>
                          </a:solidFill>
                        </a:defRPr>
                      </a:pPr>
                      <a:r>
                        <a:t>Experiment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0000"/>
                          </a:solidFill>
                        </a:defRPr>
                      </a:pPr>
                      <a:r>
                        <a:t>Result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LP channel-gated fusion mean gain (vs. backbone-only)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+0.0389 BA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LP gated fusion positive rate (dataset-backbone units)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40/48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CBraMod flatten-FT gated fusion mean gain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+0.0078 BA (9/12 positive)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FT best-of-gated/logit mean gain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</a:defRPr>
                      </a:pPr>
                      <a:r>
                        <a:t>+0.0097 BA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