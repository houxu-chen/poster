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9202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828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</a:rPr>
              <a:t>Table 1: Evolution of EEG Decoding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2801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41148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Representative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Key Value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Deep learning for EEG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EEGNet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Compact, domain-aware deep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Efficient spatio-temporal feature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Global temporal modeling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EEG Conformer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CNN frontend + Transformer self-attention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Long-range dependency + attention visualization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Large-scale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CBraMod (2025)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Criss-cross attention + masked EEG pretraining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Universal representations via LP /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0" y="731520"/>
            <a:ext cx="5029200" cy="443484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90320" y="868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Key Insight</a:t>
            </a:r>
          </a:p>
        </p:txBody>
      </p:sp>
      <p:sp>
        <p:nvSpPr>
          <p:cNvPr id="6" name="Oval 5"/>
          <p:cNvSpPr/>
          <p:nvPr/>
        </p:nvSpPr>
        <p:spPr>
          <a:xfrm>
            <a:off x="14081760" y="14264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932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EEGNet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Task-specific expert, compact</a:t>
            </a:r>
          </a:p>
        </p:txBody>
      </p:sp>
      <p:sp>
        <p:nvSpPr>
          <p:cNvPr id="9" name="Oval 8"/>
          <p:cNvSpPr/>
          <p:nvPr/>
        </p:nvSpPr>
        <p:spPr>
          <a:xfrm>
            <a:off x="14081760" y="1883664"/>
            <a:ext cx="256032" cy="256032"/>
          </a:xfrm>
          <a:prstGeom prst="ellipse">
            <a:avLst/>
          </a:prstGeom>
          <a:solidFill>
            <a:srgbClr val="0071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9324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EEG Conformer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1A2"/>
                </a:solidFill>
              </a:rPr>
              <a:t>Transformer enables global modeling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0" y="2340864"/>
            <a:ext cx="256032" cy="256032"/>
          </a:xfrm>
          <a:prstGeom prst="ellipse">
            <a:avLst/>
          </a:prstGeom>
          <a:solidFill>
            <a:srgbClr val="0071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9324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CBraMod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1A2"/>
                </a:solidFill>
              </a:rPr>
              <a:t>Pretraining to cross-task transfer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081760" y="2880360"/>
            <a:ext cx="4297680" cy="13716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0" y="3154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1A2"/>
                </a:solidFill>
              </a:rPr>
              <a:t>Paradigm: per-task training -&gt; pretrain then adapt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0" y="38404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5A32"/>
                </a:solidFill>
              </a:rPr>
              <a:t>Generalization improves; interpretability becomes the new bottleneck.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828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</a:rPr>
              <a:t>Table 2: CBraMod Reproduction Results Across 8 Downstream Tasks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06984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1371600"/>
                <a:gridCol w="914400"/>
                <a:gridCol w="914400"/>
                <a:gridCol w="914400"/>
                <a:gridCol w="914400"/>
                <a:gridCol w="118872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Best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Best k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Paper Ref.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Conclusion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BCIC2A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session T/E+CAR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k 0.5138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Matched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bAcc 0.5509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bAcc 0.7865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bAcc 0.6417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SEED-V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bAcc 0.4091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SHU-MI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bAcc 0.6370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Best matches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flatten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bAcc 0.9560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Best exceeds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TUEV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baseline official 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42/2024/3407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k 0.6671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Below Ref.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0" y="731520"/>
            <a:ext cx="5029200" cy="786384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90320" y="868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At a Glance</a:t>
            </a:r>
          </a:p>
        </p:txBody>
      </p:sp>
      <p:sp>
        <p:nvSpPr>
          <p:cNvPr id="6" name="Oval 5"/>
          <p:cNvSpPr/>
          <p:nvPr/>
        </p:nvSpPr>
        <p:spPr>
          <a:xfrm>
            <a:off x="14081760" y="14264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932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BCIC2A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Matched</a:t>
            </a:r>
          </a:p>
        </p:txBody>
      </p:sp>
      <p:sp>
        <p:nvSpPr>
          <p:cNvPr id="9" name="Oval 8"/>
          <p:cNvSpPr/>
          <p:nvPr/>
        </p:nvSpPr>
        <p:spPr>
          <a:xfrm>
            <a:off x="14081760" y="18836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9324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FACED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Close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0" y="23408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9324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ISRUC-S1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Reproduced</a:t>
            </a:r>
          </a:p>
        </p:txBody>
      </p:sp>
      <p:sp>
        <p:nvSpPr>
          <p:cNvPr id="15" name="Oval 14"/>
          <p:cNvSpPr/>
          <p:nvPr/>
        </p:nvSpPr>
        <p:spPr>
          <a:xfrm>
            <a:off x="14081760" y="27980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93240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Physionet-MI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Close</a:t>
            </a:r>
          </a:p>
        </p:txBody>
      </p:sp>
      <p:sp>
        <p:nvSpPr>
          <p:cNvPr id="18" name="Oval 17"/>
          <p:cNvSpPr/>
          <p:nvPr/>
        </p:nvSpPr>
        <p:spPr>
          <a:xfrm>
            <a:off x="14081760" y="32552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9324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SEED-V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Close</a:t>
            </a:r>
          </a:p>
        </p:txBody>
      </p:sp>
      <p:sp>
        <p:nvSpPr>
          <p:cNvPr id="21" name="Oval 20"/>
          <p:cNvSpPr/>
          <p:nvPr/>
        </p:nvSpPr>
        <p:spPr>
          <a:xfrm>
            <a:off x="14081760" y="3712463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93240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SHU-MI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Best matches</a:t>
            </a:r>
          </a:p>
        </p:txBody>
      </p:sp>
      <p:sp>
        <p:nvSpPr>
          <p:cNvPr id="24" name="Oval 23"/>
          <p:cNvSpPr/>
          <p:nvPr/>
        </p:nvSpPr>
        <p:spPr>
          <a:xfrm>
            <a:off x="14081760" y="4169663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9324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MDD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Best exceeds</a:t>
            </a:r>
          </a:p>
        </p:txBody>
      </p:sp>
      <p:sp>
        <p:nvSpPr>
          <p:cNvPr id="27" name="Oval 26"/>
          <p:cNvSpPr/>
          <p:nvPr/>
        </p:nvSpPr>
        <p:spPr>
          <a:xfrm>
            <a:off x="14081760" y="4626864"/>
            <a:ext cx="256032" cy="256032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9324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TUEV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18488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4C3C"/>
                </a:solidFill>
              </a:rPr>
              <a:t>Below Ref.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081760" y="5166360"/>
            <a:ext cx="4297680" cy="13716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0" y="5440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Matched / Reproduced : 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0" y="5852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C40F"/>
                </a:solidFill>
              </a:rPr>
              <a:t>Close                : 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0" y="6263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</a:rPr>
              <a:t>Below Ref.           : 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0" y="69494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5A32"/>
                </a:solidFill>
              </a:rPr>
              <a:t>6 / 8 on or near paper reference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828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</a:rPr>
              <a:t>Table 3: Original EEGNet Performance on Motor Imagery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430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Classes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Val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Test Acc (%)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Test Kappa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BCICIV2A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BCICIV2B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77.72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IIIa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Physionet MI (22ch)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49.30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0" y="731520"/>
            <a:ext cx="5029200" cy="539496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90320" y="868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Summary</a:t>
            </a:r>
          </a:p>
        </p:txBody>
      </p:sp>
      <p:sp>
        <p:nvSpPr>
          <p:cNvPr id="6" name="Oval 5"/>
          <p:cNvSpPr/>
          <p:nvPr/>
        </p:nvSpPr>
        <p:spPr>
          <a:xfrm>
            <a:off x="14081760" y="14264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932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BCICIV2A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Primary - val 79.17%</a:t>
            </a:r>
          </a:p>
        </p:txBody>
      </p:sp>
      <p:sp>
        <p:nvSpPr>
          <p:cNvPr id="9" name="Oval 8"/>
          <p:cNvSpPr/>
          <p:nvPr/>
        </p:nvSpPr>
        <p:spPr>
          <a:xfrm>
            <a:off x="14081760" y="18836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9324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BCICIV2B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Primary - test 78.35%, k=0.57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0" y="23408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9324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IIIa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Quick baseline - val 55.95%</a:t>
            </a:r>
          </a:p>
        </p:txBody>
      </p:sp>
      <p:sp>
        <p:nvSpPr>
          <p:cNvPr id="15" name="Oval 14"/>
          <p:cNvSpPr/>
          <p:nvPr/>
        </p:nvSpPr>
        <p:spPr>
          <a:xfrm>
            <a:off x="14081760" y="27980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93240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Physionet 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Quick baseline - val 49.30%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81760" y="3337560"/>
            <a:ext cx="4297680" cy="13716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0" y="36118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Primary (300 ep): 2 datasets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0" y="4023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C40F"/>
                </a:solidFill>
              </a:rPr>
              <a:t>Quick baseline (100 ep): 2 datasets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0" y="470915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5A32"/>
                </a:solidFill>
              </a:rPr>
              <a:t>EEGNet serves as the task-specific expert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828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</a:rPr>
              <a:t>Table 4: NeuroGate - Linear Probing with Frozen Backbone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2004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CBraMod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NeuroGate LP bAcc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HMC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0.6149 +- 0.0256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0.6922 +- 0.0172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ISRUC-S1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0.5962 +- 0.0579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0.6934 +- 0.0156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MDD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0.8907 +- 0.0477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0.9062 +- 0.1101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Physionet-MI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0.2719 +- 0.0176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0.2875 +- 0.0083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0" y="731520"/>
            <a:ext cx="5029200" cy="539496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90320" y="868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LP Gains</a:t>
            </a:r>
          </a:p>
        </p:txBody>
      </p:sp>
      <p:sp>
        <p:nvSpPr>
          <p:cNvPr id="6" name="Oval 5"/>
          <p:cNvSpPr/>
          <p:nvPr/>
        </p:nvSpPr>
        <p:spPr>
          <a:xfrm>
            <a:off x="14081760" y="14264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932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HMC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+0.0773</a:t>
            </a:r>
          </a:p>
        </p:txBody>
      </p:sp>
      <p:sp>
        <p:nvSpPr>
          <p:cNvPr id="9" name="Oval 8"/>
          <p:cNvSpPr/>
          <p:nvPr/>
        </p:nvSpPr>
        <p:spPr>
          <a:xfrm>
            <a:off x="14081760" y="18836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9324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ISRUC-S1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+0.0972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0" y="23408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9324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MDD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+0.0154</a:t>
            </a:r>
          </a:p>
        </p:txBody>
      </p:sp>
      <p:sp>
        <p:nvSpPr>
          <p:cNvPr id="15" name="Oval 14"/>
          <p:cNvSpPr/>
          <p:nvPr/>
        </p:nvSpPr>
        <p:spPr>
          <a:xfrm>
            <a:off x="14081760" y="27980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93240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Physionet-MI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+0.0156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81760" y="3337560"/>
            <a:ext cx="4297680" cy="13716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0" y="36118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Sleep staging: large gains (&gt;= +0.07)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0" y="4023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C40F"/>
                </a:solidFill>
              </a:rPr>
              <a:t>Clinical / MI: small gains (~ +0.015)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0" y="470915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5A32"/>
                </a:solidFill>
              </a:rPr>
              <a:t>Neural priors most helpful where frozen embeddings lack spectral 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828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</a:rPr>
              <a:t>Table 5: NeuroGate - Fine-Tuning Summary on Selected-12 Datasets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LP channel-gated fusion mean gain (vs. backbone-only)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+0.0389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LP gated fusion positive rate (dataset-backbone units)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40 / 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CBraMod flatten-FT gated fusion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+0.0078 BA (9/12 positive)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FT best-of-gated/logit mean gain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+0.0097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0" y="731520"/>
            <a:ext cx="5029200" cy="539496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90320" y="868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FT Summary</a:t>
            </a:r>
          </a:p>
        </p:txBody>
      </p:sp>
      <p:sp>
        <p:nvSpPr>
          <p:cNvPr id="6" name="Oval 5"/>
          <p:cNvSpPr/>
          <p:nvPr/>
        </p:nvSpPr>
        <p:spPr>
          <a:xfrm>
            <a:off x="14081760" y="14264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932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LP mean 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+0.0389 BA</a:t>
            </a:r>
          </a:p>
        </p:txBody>
      </p:sp>
      <p:sp>
        <p:nvSpPr>
          <p:cNvPr id="9" name="Oval 8"/>
          <p:cNvSpPr/>
          <p:nvPr/>
        </p:nvSpPr>
        <p:spPr>
          <a:xfrm>
            <a:off x="14081760" y="18836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9324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LP positive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40 / 48 (83%)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0" y="23408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9324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FT mean gain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+0.0078 BA</a:t>
            </a:r>
          </a:p>
        </p:txBody>
      </p:sp>
      <p:sp>
        <p:nvSpPr>
          <p:cNvPr id="15" name="Oval 14"/>
          <p:cNvSpPr/>
          <p:nvPr/>
        </p:nvSpPr>
        <p:spPr>
          <a:xfrm>
            <a:off x="14081760" y="2798064"/>
            <a:ext cx="256032" cy="256032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93240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FT best-of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1C40F"/>
                </a:solidFill>
              </a:rPr>
              <a:t>+0.0097 BA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81760" y="3337560"/>
            <a:ext cx="4297680" cy="13716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0" y="36118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Main evidence: LP (frozen backbone)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0" y="4023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1C40F"/>
                </a:solidFill>
              </a:rPr>
              <a:t>Supporting: FT (end-to-end)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0" y="470915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5A32"/>
                </a:solidFill>
              </a:rPr>
              <a:t>NeuroGate: supplementing frozen foundation embeddings (LP).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828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</a:rPr>
              <a:t>Table 6: EEG Conformer Reproduction on BCICIV2a (Per-Subject Accuracy 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01955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S01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S02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S03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S04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S05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S06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S07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S08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S09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EEG Conformer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61.46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52.08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w/o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83.33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28.47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47.91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76.04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83.68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0" y="731520"/>
            <a:ext cx="5029200" cy="5394960"/>
          </a:xfrm>
          <a:prstGeom prst="rect">
            <a:avLst/>
          </a:prstGeom>
          <a:solidFill>
            <a:srgbClr val="F0F0F0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90320" y="868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Ablation</a:t>
            </a:r>
          </a:p>
        </p:txBody>
      </p:sp>
      <p:sp>
        <p:nvSpPr>
          <p:cNvPr id="6" name="Oval 5"/>
          <p:cNvSpPr/>
          <p:nvPr/>
        </p:nvSpPr>
        <p:spPr>
          <a:xfrm>
            <a:off x="14081760" y="14264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93240" y="1371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Full Conformer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Avg 78.66%</a:t>
            </a:r>
          </a:p>
        </p:txBody>
      </p:sp>
      <p:sp>
        <p:nvSpPr>
          <p:cNvPr id="9" name="Oval 8"/>
          <p:cNvSpPr/>
          <p:nvPr/>
        </p:nvSpPr>
        <p:spPr>
          <a:xfrm>
            <a:off x="14081760" y="1883664"/>
            <a:ext cx="256032" cy="256032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93240" y="1828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w/o Transformer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4C3C"/>
                </a:solidFill>
              </a:rPr>
              <a:t>Avg 63.73% (-14.93)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0" y="2340864"/>
            <a:ext cx="256032" cy="256032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9324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S04 extreme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74C3C"/>
                </a:solidFill>
              </a:rPr>
              <a:t>78.13 to 28.47 (-49.66)</a:t>
            </a:r>
          </a:p>
        </p:txBody>
      </p:sp>
      <p:sp>
        <p:nvSpPr>
          <p:cNvPr id="15" name="Oval 14"/>
          <p:cNvSpPr/>
          <p:nvPr/>
        </p:nvSpPr>
        <p:spPr>
          <a:xfrm>
            <a:off x="14081760" y="2798064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93240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</a:rPr>
              <a:t>S01, S08, S09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7AE60"/>
                </a:solidFill>
              </a:rPr>
              <a:t>Resilient (&lt; 6 pp drop)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81760" y="3337560"/>
            <a:ext cx="4297680" cy="13716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0" y="36118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Transformer contribution: +14.93 pp on avg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0" y="4023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</a:rPr>
              <a:t>Per-subject variance: very high (S04 extreme)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0" y="4709159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5A32"/>
                </a:solidFill>
              </a:rPr>
              <a:t>Self-attention is critical: removing Transformer drops accuracy by ~15 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