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202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828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Table 2: CBraMod Reproduction Results Across 8 Downstream Tasks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07899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1463040"/>
                <a:gridCol w="914400"/>
                <a:gridCol w="914400"/>
                <a:gridCol w="914400"/>
                <a:gridCol w="914400"/>
                <a:gridCol w="118872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Seeds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bAcc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bAcc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κ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κ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Paper Ref.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3C3C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BCIC2A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session T/E+CAR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0.6382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0.6709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κ 0.5138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</a:defRPr>
                      </a:pPr>
                      <a:r>
                        <a:t>Matched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FACED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0.4617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0.4718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bAcc 0.5509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C40F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ISRUC-S1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0.7780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0.7850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0.7128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0.7373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bAcc 0.7865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</a:defRPr>
                      </a:pPr>
                      <a:r>
                        <a:t>Reproduced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Physionet-MI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flatten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0.6181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0.4631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0.4903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bAcc 0.6417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C40F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SEED-V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0.3927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0.4018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0.2450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0.2592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bAcc 0.4091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1C40F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SHU-MI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flatten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0.6380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0.1700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0.2756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bAcc 0.6370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</a:defRPr>
                      </a:pPr>
                      <a:r>
                        <a:t>Best matches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flatten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0.9034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0.9674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0.8008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0.9099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bAcc 0.9560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</a:defRPr>
                      </a:pPr>
                      <a:r>
                        <a:t>Best exceeds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TUEV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0.5964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0.6343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κ 0.6671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E74C3C"/>
                          </a:solidFill>
                        </a:defRPr>
                      </a:pPr>
                      <a:r>
                        <a:t>Below Ref.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3716000" y="914400"/>
            <a:ext cx="5029200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990320" y="10972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At a Glance</a:t>
            </a:r>
          </a:p>
        </p:txBody>
      </p:sp>
      <p:sp>
        <p:nvSpPr>
          <p:cNvPr id="6" name="Oval 5"/>
          <p:cNvSpPr/>
          <p:nvPr/>
        </p:nvSpPr>
        <p:spPr>
          <a:xfrm>
            <a:off x="14081760" y="1810512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538960" y="17373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BCIC2A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0" y="17373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45A32"/>
                </a:solidFill>
              </a:defRPr>
            </a:pPr>
            <a:r>
              <a:t>Matched</a:t>
            </a:r>
          </a:p>
        </p:txBody>
      </p:sp>
      <p:sp>
        <p:nvSpPr>
          <p:cNvPr id="9" name="Oval 8"/>
          <p:cNvSpPr/>
          <p:nvPr/>
        </p:nvSpPr>
        <p:spPr>
          <a:xfrm>
            <a:off x="14081760" y="2313432"/>
            <a:ext cx="292608" cy="292608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0" y="22402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FACED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0" y="22402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8200"/>
                </a:solidFill>
              </a:defRPr>
            </a:pPr>
            <a:r>
              <a:t>Close</a:t>
            </a:r>
          </a:p>
        </p:txBody>
      </p:sp>
      <p:sp>
        <p:nvSpPr>
          <p:cNvPr id="12" name="Oval 11"/>
          <p:cNvSpPr/>
          <p:nvPr/>
        </p:nvSpPr>
        <p:spPr>
          <a:xfrm>
            <a:off x="14081760" y="2816352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38960" y="274320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ISRUC-S1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0" y="27432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45A32"/>
                </a:solidFill>
              </a:defRPr>
            </a:pPr>
            <a:r>
              <a:t>Reproduced</a:t>
            </a:r>
          </a:p>
        </p:txBody>
      </p:sp>
      <p:sp>
        <p:nvSpPr>
          <p:cNvPr id="15" name="Oval 14"/>
          <p:cNvSpPr/>
          <p:nvPr/>
        </p:nvSpPr>
        <p:spPr>
          <a:xfrm>
            <a:off x="14081760" y="3319272"/>
            <a:ext cx="292608" cy="292608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538960" y="324612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Physionet-MI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0" y="32461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8200"/>
                </a:solidFill>
              </a:defRPr>
            </a:pPr>
            <a:r>
              <a:t>Close</a:t>
            </a:r>
          </a:p>
        </p:txBody>
      </p:sp>
      <p:sp>
        <p:nvSpPr>
          <p:cNvPr id="18" name="Oval 17"/>
          <p:cNvSpPr/>
          <p:nvPr/>
        </p:nvSpPr>
        <p:spPr>
          <a:xfrm>
            <a:off x="14081760" y="3822192"/>
            <a:ext cx="292608" cy="292608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538960" y="374904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SEED-V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0" y="37490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8200"/>
                </a:solidFill>
              </a:defRPr>
            </a:pPr>
            <a:r>
              <a:t>Close</a:t>
            </a:r>
          </a:p>
        </p:txBody>
      </p:sp>
      <p:sp>
        <p:nvSpPr>
          <p:cNvPr id="21" name="Oval 20"/>
          <p:cNvSpPr/>
          <p:nvPr/>
        </p:nvSpPr>
        <p:spPr>
          <a:xfrm>
            <a:off x="14081760" y="4325112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538960" y="425196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SHU-MI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0" y="42519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45A32"/>
                </a:solidFill>
              </a:defRPr>
            </a:pPr>
            <a:r>
              <a:t>Best matches</a:t>
            </a:r>
          </a:p>
        </p:txBody>
      </p:sp>
      <p:sp>
        <p:nvSpPr>
          <p:cNvPr id="24" name="Oval 23"/>
          <p:cNvSpPr/>
          <p:nvPr/>
        </p:nvSpPr>
        <p:spPr>
          <a:xfrm>
            <a:off x="14081760" y="4828032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38960" y="47548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MDD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0" y="475488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45A32"/>
                </a:solidFill>
              </a:defRPr>
            </a:pPr>
            <a:r>
              <a:t>Best exceeds</a:t>
            </a:r>
          </a:p>
        </p:txBody>
      </p:sp>
      <p:sp>
        <p:nvSpPr>
          <p:cNvPr id="27" name="Oval 26"/>
          <p:cNvSpPr/>
          <p:nvPr/>
        </p:nvSpPr>
        <p:spPr>
          <a:xfrm>
            <a:off x="14081760" y="5330952"/>
            <a:ext cx="292608" cy="29260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38960" y="525780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TUEV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184880" y="52578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74C3C"/>
                </a:solidFill>
              </a:defRPr>
            </a:pPr>
            <a:r>
              <a:t>Below Ref.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0" y="6035040"/>
            <a:ext cx="411480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64640" y="640080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● Matched / Reproduced : 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64640" y="685800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1C40F"/>
                </a:solidFill>
              </a:defRPr>
            </a:pPr>
            <a:r>
              <a:t>● Close                : 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64640" y="7315200"/>
            <a:ext cx="3931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● Below Ref.           : 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0" y="813816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145A32"/>
                </a:solidFill>
              </a:defRPr>
            </a:pPr>
            <a:r>
              <a:t>6 / 8 on or near paper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